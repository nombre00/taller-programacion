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Play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XFOLPsuTsMI0pfeLnb0airtRd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A7462A-9AB3-4804-A93D-835111CA1764}">
  <a:tblStyle styleId="{58A7462A-9AB3-4804-A93D-835111CA17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-bold.fntdata"/><Relationship Id="rId23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69d9e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969d9e60a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69d9e60a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969d9e60a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3177356f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3177356f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3177356f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3177356f0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69d9e60a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969d9e60a4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69d9e60a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969d9e60a4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9053" y="1796807"/>
            <a:ext cx="70965" cy="326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3"/>
          <p:cNvSpPr/>
          <p:nvPr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/>
          <p:nvPr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1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3"/>
          <p:cNvCxnSpPr/>
          <p:nvPr/>
        </p:nvCxnSpPr>
        <p:spPr>
          <a:xfrm>
            <a:off x="6996223" y="4106486"/>
            <a:ext cx="4114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" name="Google Shape;16;p13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" name="Google Shape;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8812" y="1206961"/>
            <a:ext cx="3375906" cy="542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1">
  <p:cSld name="INTERIOR 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2" type="body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"/>
          <p:cNvSpPr/>
          <p:nvPr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" name="Google Shape;23;p14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24" name="Google Shape;24;p14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" name="Google Shape;26;p14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27" name="Google Shape;27;p14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" name="Google Shape;28;p1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9" name="Google Shape;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714468" y="4342374"/>
            <a:ext cx="119408" cy="423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5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5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5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6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6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2">
  <p:cSld name="INTERIOR 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7"/>
          <p:cNvSpPr/>
          <p:nvPr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7"/>
          <p:cNvSpPr/>
          <p:nvPr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5400000">
            <a:off x="10929134" y="3487483"/>
            <a:ext cx="2392160" cy="13357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7"/>
          <p:cNvSpPr txBox="1"/>
          <p:nvPr>
            <p:ph type="title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8" name="Google Shape;48;p17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49" name="Google Shape;49;p17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" name="Google Shape;51;p17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52" name="Google Shape;52;p17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3" name="Google Shape;53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4" name="Google Shape;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414" y="1315256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8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8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8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3">
  <p:cSld name="INTERIOR 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9"/>
          <p:cNvSpPr/>
          <p:nvPr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2" type="body"/>
          </p:nvPr>
        </p:nvSpPr>
        <p:spPr>
          <a:xfrm>
            <a:off x="6510853" y="976146"/>
            <a:ext cx="4930746" cy="2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/>
          <p:nvPr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9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68" name="Google Shape;68;p19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9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" name="Google Shape;70;p19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71" name="Google Shape;71;p19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2" name="Google Shape;72;p19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3" name="Google Shape;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92" y="2244940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0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0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0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b="1" lang="es-CL" sz="8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PA FINAL">
  <p:cSld name="TAPA FINAL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21"/>
          <p:cNvGrpSpPr/>
          <p:nvPr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83" name="Google Shape;8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5" name="Google Shape;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7179" y="2291644"/>
            <a:ext cx="3997641" cy="129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s-CL"/>
              <a:t>Analista Programador</a:t>
            </a:r>
            <a:r>
              <a:rPr lang="es-CL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s-CL"/>
            </a:br>
            <a:endParaRPr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6937285" y="4305507"/>
            <a:ext cx="4356341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594" lvl="0" marL="22859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CL"/>
              <a:t>Golden Burger</a:t>
            </a:r>
            <a:endParaRPr/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7052785" y="4954507"/>
            <a:ext cx="4356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/>
              <a:t>Integrantes del grupo 8:</a:t>
            </a:r>
            <a:endParaRPr sz="17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/>
              <a:t>Sofia Gomez</a:t>
            </a:r>
            <a:endParaRPr sz="17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/>
              <a:t>Leonardo Salgado</a:t>
            </a:r>
            <a:endParaRPr sz="17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/>
              <a:t>Oriana Solorzano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7965" lvl="0" marL="22796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s-CL">
                <a:latin typeface="Arial"/>
                <a:ea typeface="Arial"/>
                <a:cs typeface="Arial"/>
                <a:sym typeface="Arial"/>
              </a:rPr>
              <a:t>Indice/agenda</a:t>
            </a:r>
            <a:endParaRPr/>
          </a:p>
        </p:txBody>
      </p:sp>
      <p:sp>
        <p:nvSpPr>
          <p:cNvPr id="98" name="Google Shape;98;p2"/>
          <p:cNvSpPr txBox="1"/>
          <p:nvPr>
            <p:ph idx="2" type="body"/>
          </p:nvPr>
        </p:nvSpPr>
        <p:spPr>
          <a:xfrm>
            <a:off x="640725" y="1137576"/>
            <a:ext cx="6555900" cy="4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/>
              <a:t>1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 Descripción del proyecto.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/>
              <a:t>2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 Contexto del proyecto.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/>
              <a:t>3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 Metodología.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CL" sz="2800"/>
              <a:t>4. Tiempo asociado.</a:t>
            </a:r>
            <a:endParaRPr sz="2800"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/>
              <a:t>5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 Descripción técnica de la solución.</a:t>
            </a:r>
            <a:endParaRPr/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CL" sz="2800"/>
              <a:t>6</a:t>
            </a:r>
            <a:r>
              <a:rPr lang="es-CL" sz="2800">
                <a:latin typeface="Arial"/>
                <a:ea typeface="Arial"/>
                <a:cs typeface="Arial"/>
                <a:sym typeface="Arial"/>
              </a:rPr>
              <a:t>. Documentación.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27965" lvl="0" marL="22796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s-CL" sz="2800"/>
              <a:t>7. Reflexión y conclusiones.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8594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Descripción del proyecto</a:t>
            </a:r>
            <a:endParaRPr/>
          </a:p>
        </p:txBody>
      </p:sp>
      <p:grpSp>
        <p:nvGrpSpPr>
          <p:cNvPr id="104" name="Google Shape;104;p3"/>
          <p:cNvGrpSpPr/>
          <p:nvPr/>
        </p:nvGrpSpPr>
        <p:grpSpPr>
          <a:xfrm>
            <a:off x="12750" y="2695950"/>
            <a:ext cx="1460400" cy="1466100"/>
            <a:chOff x="12750" y="2695950"/>
            <a:chExt cx="1460400" cy="1466100"/>
          </a:xfrm>
        </p:grpSpPr>
        <p:sp>
          <p:nvSpPr>
            <p:cNvPr id="105" name="Google Shape;105;p3"/>
            <p:cNvSpPr/>
            <p:nvPr/>
          </p:nvSpPr>
          <p:spPr>
            <a:xfrm>
              <a:off x="12750" y="2695950"/>
              <a:ext cx="1460400" cy="14661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 txBox="1"/>
            <p:nvPr/>
          </p:nvSpPr>
          <p:spPr>
            <a:xfrm>
              <a:off x="81600" y="2772000"/>
              <a:ext cx="1322700" cy="131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8600">
                  <a:solidFill>
                    <a:schemeClr val="lt1"/>
                  </a:solidFill>
                </a:rPr>
                <a:t>1</a:t>
              </a:r>
              <a:endParaRPr b="1" sz="86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Descripción del proyecto</a:t>
            </a:r>
            <a:endParaRPr b="0" sz="2800"/>
          </a:p>
        </p:txBody>
      </p:sp>
      <p:sp>
        <p:nvSpPr>
          <p:cNvPr id="112" name="Google Shape;112;p4"/>
          <p:cNvSpPr txBox="1"/>
          <p:nvPr>
            <p:ph idx="2" type="body"/>
          </p:nvPr>
        </p:nvSpPr>
        <p:spPr>
          <a:xfrm>
            <a:off x="654680" y="1199703"/>
            <a:ext cx="9905700" cy="5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900"/>
              <a:t>Problema detectado:</a:t>
            </a:r>
            <a:r>
              <a:rPr lang="es-CL" sz="1900"/>
              <a:t> Falta de canal de ventas propio; gestión desintegrada de la empresa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900"/>
              <a:t>Objetivo general:</a:t>
            </a:r>
            <a:r>
              <a:rPr lang="es-CL" sz="1900"/>
              <a:t> Crear un software para gestionar ventas online, trabajadores, contabilidad y stock en un solo lugar de forma amigable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s-CL" sz="1900"/>
              <a:t>Alcance:</a:t>
            </a:r>
            <a:r>
              <a:rPr lang="es-CL" sz="1900"/>
              <a:t> Venta online, gestión de turnos, control de stock, estados de ventas y pagos, no incluye pago de impuestos.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s-CL" sz="1900"/>
              <a:t>Objetivos específicos:</a:t>
            </a:r>
            <a:endParaRPr b="1"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s-CL" sz="1900"/>
              <a:t>Disponer de canal propio de ventas, evitando comisiones a terceros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L" sz="1900"/>
              <a:t>Simplificar la contabilidad de la empresa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L" sz="1900"/>
              <a:t>Simplificar la gestión del personal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L" sz="1900"/>
              <a:t>Mejorar la experiencia del cliente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8594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Contexto del proyecto</a:t>
            </a:r>
            <a:endParaRPr/>
          </a:p>
        </p:txBody>
      </p:sp>
      <p:grpSp>
        <p:nvGrpSpPr>
          <p:cNvPr id="118" name="Google Shape;118;p5"/>
          <p:cNvGrpSpPr/>
          <p:nvPr/>
        </p:nvGrpSpPr>
        <p:grpSpPr>
          <a:xfrm>
            <a:off x="12750" y="2695950"/>
            <a:ext cx="1460400" cy="1466100"/>
            <a:chOff x="12750" y="2695950"/>
            <a:chExt cx="1460400" cy="1466100"/>
          </a:xfrm>
        </p:grpSpPr>
        <p:sp>
          <p:nvSpPr>
            <p:cNvPr id="119" name="Google Shape;119;p5"/>
            <p:cNvSpPr/>
            <p:nvPr/>
          </p:nvSpPr>
          <p:spPr>
            <a:xfrm>
              <a:off x="12750" y="2695950"/>
              <a:ext cx="1460400" cy="14661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5"/>
            <p:cNvSpPr txBox="1"/>
            <p:nvPr/>
          </p:nvSpPr>
          <p:spPr>
            <a:xfrm>
              <a:off x="81600" y="2772000"/>
              <a:ext cx="1322700" cy="131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8600">
                  <a:solidFill>
                    <a:schemeClr val="lt1"/>
                  </a:solidFill>
                </a:rPr>
                <a:t>2</a:t>
              </a:r>
              <a:endParaRPr b="1" sz="86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/>
        </p:nvSpPr>
        <p:spPr>
          <a:xfrm>
            <a:off x="1338350" y="1425325"/>
            <a:ext cx="28512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59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</a:rPr>
              <a:t>Contexto del proyecto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4831500" y="347475"/>
            <a:ext cx="6998700" cy="5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Antecedentes y motivación</a:t>
            </a:r>
            <a:r>
              <a:rPr lang="es-CL" sz="1700">
                <a:solidFill>
                  <a:schemeClr val="dk1"/>
                </a:solidFill>
              </a:rPr>
              <a:t> Golden Burger carece de plataforma digital propia y depende de apps de delivery (Rappi, PedidosYa, Uber Eats) con comisiones de entre 15% y 35% por pedido, perdiendo control sobre la experiencia del cliente y los datos de compra.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Público objetivo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Clientes finales:</a:t>
            </a:r>
            <a:r>
              <a:rPr lang="es-CL" sz="1700">
                <a:solidFill>
                  <a:schemeClr val="dk1"/>
                </a:solidFill>
              </a:rPr>
              <a:t> personas de 18-45 años, habituadas a plataformas digitales, que buscan pedidos rápidos y promociones personalizadas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s-CL" sz="1700">
                <a:solidFill>
                  <a:schemeClr val="dk1"/>
                </a:solidFill>
              </a:rPr>
              <a:t>Personal interno:</a:t>
            </a:r>
            <a:r>
              <a:rPr lang="es-CL" sz="1700">
                <a:solidFill>
                  <a:schemeClr val="dk1"/>
                </a:solidFill>
              </a:rPr>
              <a:t> administradores, cajeros, cocineros y encargados de turno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chemeClr val="dk1"/>
                </a:solidFill>
              </a:rPr>
              <a:t>Problema a resolver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Sin ventas online directas ni integración con apps de delivery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Gestión interna manual: stock, turnos, caja y contabilidad desconectados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Sin datos propios para fidelización ni marketing directo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Metodología</a:t>
            </a:r>
            <a:endParaRPr b="0" sz="1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 i="1"/>
          </a:p>
        </p:txBody>
      </p:sp>
      <p:grpSp>
        <p:nvGrpSpPr>
          <p:cNvPr id="132" name="Google Shape;132;p7"/>
          <p:cNvGrpSpPr/>
          <p:nvPr/>
        </p:nvGrpSpPr>
        <p:grpSpPr>
          <a:xfrm>
            <a:off x="12750" y="2695950"/>
            <a:ext cx="1460400" cy="1466100"/>
            <a:chOff x="12750" y="2695950"/>
            <a:chExt cx="1460400" cy="1466100"/>
          </a:xfrm>
        </p:grpSpPr>
        <p:sp>
          <p:nvSpPr>
            <p:cNvPr id="133" name="Google Shape;133;p7"/>
            <p:cNvSpPr/>
            <p:nvPr/>
          </p:nvSpPr>
          <p:spPr>
            <a:xfrm>
              <a:off x="12750" y="2695950"/>
              <a:ext cx="1460400" cy="14661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7"/>
            <p:cNvSpPr txBox="1"/>
            <p:nvPr/>
          </p:nvSpPr>
          <p:spPr>
            <a:xfrm>
              <a:off x="81600" y="2772000"/>
              <a:ext cx="1322700" cy="131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8600">
                  <a:solidFill>
                    <a:schemeClr val="lt1"/>
                  </a:solidFill>
                </a:rPr>
                <a:t>3</a:t>
              </a:r>
              <a:endParaRPr b="1" sz="86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Metodología</a:t>
            </a:r>
            <a:endParaRPr b="0" sz="1400"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 txBox="1"/>
          <p:nvPr>
            <p:ph idx="2" type="body"/>
          </p:nvPr>
        </p:nvSpPr>
        <p:spPr>
          <a:xfrm>
            <a:off x="2368525" y="4379075"/>
            <a:ext cx="90591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Se ha seleccionado el marco de trabajo </a:t>
            </a:r>
            <a:r>
              <a:rPr b="1" lang="es-CL"/>
              <a:t>SCRUM</a:t>
            </a:r>
            <a:r>
              <a:rPr lang="es-CL"/>
              <a:t> debido a su enfoque en el desarrollo incremental y su capacidad de adaptación. A través de la organización en </a:t>
            </a:r>
            <a:r>
              <a:rPr b="1" lang="es-CL"/>
              <a:t>Sprints</a:t>
            </a:r>
            <a:r>
              <a:rPr lang="es-CL"/>
              <a:t> y una estructura clara de roles, el equipo garantiza una entrega de valor continua, permitiendo realizar ajustes basados en el feedback constante y asegurar la calidad del producto final</a:t>
            </a:r>
            <a:endParaRPr/>
          </a:p>
        </p:txBody>
      </p:sp>
      <p:graphicFrame>
        <p:nvGraphicFramePr>
          <p:cNvPr id="141" name="Google Shape;141;p8"/>
          <p:cNvGraphicFramePr/>
          <p:nvPr/>
        </p:nvGraphicFramePr>
        <p:xfrm>
          <a:off x="2410125" y="1180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{58A7462A-9AB3-4804-A93D-835111CA1764}</a:tableStyleId>
              </a:tblPr>
              <a:tblGrid>
                <a:gridCol w="1459200"/>
                <a:gridCol w="4499200"/>
                <a:gridCol w="3100800"/>
              </a:tblGrid>
              <a:tr h="77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Método</a:t>
                      </a:r>
                      <a:endParaRPr i="1" sz="10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Ventajas</a:t>
                      </a:r>
                      <a:endParaRPr i="1" sz="10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>
                          <a:solidFill>
                            <a:srgbClr val="1F4E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Desventajas</a:t>
                      </a:r>
                      <a:endParaRPr i="1" sz="1000">
                        <a:solidFill>
                          <a:srgbClr val="1F4E7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>
                    <a:solidFill>
                      <a:srgbClr val="DEEBF6"/>
                    </a:solidFill>
                  </a:tcPr>
                </a:tc>
              </a:tr>
              <a:tr h="8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Scrum</a:t>
                      </a:r>
                      <a:endParaRPr i="1" sz="10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Comunicación continua entre el equipo de desarrollo y el cliente.</a:t>
                      </a:r>
                      <a:endParaRPr i="1" sz="10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requiere de personal capacitado en SCRUM, puede incurrir desorden si es mal manejado.</a:t>
                      </a:r>
                      <a:endParaRPr i="1" sz="10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661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Cascada</a:t>
                      </a:r>
                      <a:endParaRPr i="1" sz="10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Organización estructurada y simple.</a:t>
                      </a:r>
                      <a:endParaRPr i="1" sz="10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Poco feedback del cliente en el proceso de desarrollo.</a:t>
                      </a:r>
                      <a:endParaRPr i="1" sz="10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  <a:tr h="42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Kanban</a:t>
                      </a:r>
                      <a:endParaRPr i="1" sz="10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Visibilidad clara de las tareas a realizar.</a:t>
                      </a:r>
                      <a:endParaRPr i="1" sz="10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10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Cuellos de botella.</a:t>
                      </a:r>
                      <a:endParaRPr i="1" sz="1000">
                        <a:solidFill>
                          <a:srgbClr val="548DD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69d9e60a4_0_0"/>
          <p:cNvSpPr txBox="1"/>
          <p:nvPr>
            <p:ph type="title"/>
          </p:nvPr>
        </p:nvSpPr>
        <p:spPr>
          <a:xfrm>
            <a:off x="8458521" y="2752716"/>
            <a:ext cx="28059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8594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Tiempo asociado</a:t>
            </a:r>
            <a:endParaRPr/>
          </a:p>
        </p:txBody>
      </p:sp>
      <p:grpSp>
        <p:nvGrpSpPr>
          <p:cNvPr id="147" name="Google Shape;147;g3969d9e60a4_0_0"/>
          <p:cNvGrpSpPr/>
          <p:nvPr/>
        </p:nvGrpSpPr>
        <p:grpSpPr>
          <a:xfrm>
            <a:off x="12750" y="2695950"/>
            <a:ext cx="1460400" cy="1466100"/>
            <a:chOff x="12750" y="2695950"/>
            <a:chExt cx="1460400" cy="1466100"/>
          </a:xfrm>
        </p:grpSpPr>
        <p:sp>
          <p:nvSpPr>
            <p:cNvPr id="148" name="Google Shape;148;g3969d9e60a4_0_0"/>
            <p:cNvSpPr/>
            <p:nvPr/>
          </p:nvSpPr>
          <p:spPr>
            <a:xfrm>
              <a:off x="12750" y="2695950"/>
              <a:ext cx="1460400" cy="14661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g3969d9e60a4_0_0"/>
            <p:cNvSpPr txBox="1"/>
            <p:nvPr/>
          </p:nvSpPr>
          <p:spPr>
            <a:xfrm>
              <a:off x="81600" y="2772000"/>
              <a:ext cx="1322700" cy="131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8600">
                  <a:solidFill>
                    <a:schemeClr val="lt1"/>
                  </a:solidFill>
                </a:rPr>
                <a:t>4</a:t>
              </a:r>
              <a:endParaRPr b="1" sz="86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Carta gantt.</a:t>
            </a:r>
            <a:endParaRPr/>
          </a:p>
        </p:txBody>
      </p:sp>
      <p:sp>
        <p:nvSpPr>
          <p:cNvPr id="155" name="Google Shape;155;p10"/>
          <p:cNvSpPr txBox="1"/>
          <p:nvPr>
            <p:ph idx="2" type="body"/>
          </p:nvPr>
        </p:nvSpPr>
        <p:spPr>
          <a:xfrm>
            <a:off x="654675" y="1469550"/>
            <a:ext cx="3479700" cy="44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s-CL" sz="2089"/>
              <a:t>La gestión de los tiempos:</a:t>
            </a:r>
            <a:endParaRPr sz="208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208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s-CL" sz="1889"/>
              <a:t>El grueso del tiempo es dedicado a 10 semanas distribuidas en 5 sprints, esto nos permite trabajar entre 5 a 15 problemas puntuales dependiendo si desarrollamos en conjunto o individualmente.</a:t>
            </a:r>
            <a:endParaRPr sz="188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es-CL" sz="1889"/>
              <a:t>Además quedan 2 semanas extras para pruebas y correcciones extras.</a:t>
            </a:r>
            <a:endParaRPr sz="1889"/>
          </a:p>
          <a:p>
            <a:pPr indent="-139694" lvl="0" marL="228594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5"/>
              <a:buNone/>
            </a:pPr>
            <a:r>
              <a:t/>
            </a:r>
            <a:endParaRPr sz="1085"/>
          </a:p>
        </p:txBody>
      </p:sp>
      <p:pic>
        <p:nvPicPr>
          <p:cNvPr id="156" name="Google Shape;15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725" y="1020725"/>
            <a:ext cx="6276971" cy="506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Descripción técnica de la solución</a:t>
            </a:r>
            <a:endParaRPr i="1"/>
          </a:p>
        </p:txBody>
      </p:sp>
      <p:grpSp>
        <p:nvGrpSpPr>
          <p:cNvPr id="162" name="Google Shape;162;p9"/>
          <p:cNvGrpSpPr/>
          <p:nvPr/>
        </p:nvGrpSpPr>
        <p:grpSpPr>
          <a:xfrm>
            <a:off x="12750" y="2695950"/>
            <a:ext cx="1460400" cy="1466100"/>
            <a:chOff x="12750" y="2695950"/>
            <a:chExt cx="1460400" cy="1466100"/>
          </a:xfrm>
        </p:grpSpPr>
        <p:sp>
          <p:nvSpPr>
            <p:cNvPr id="163" name="Google Shape;163;p9"/>
            <p:cNvSpPr/>
            <p:nvPr/>
          </p:nvSpPr>
          <p:spPr>
            <a:xfrm>
              <a:off x="12750" y="2695950"/>
              <a:ext cx="1460400" cy="14661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9"/>
            <p:cNvSpPr txBox="1"/>
            <p:nvPr/>
          </p:nvSpPr>
          <p:spPr>
            <a:xfrm>
              <a:off x="81600" y="2772000"/>
              <a:ext cx="1322700" cy="131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8600">
                  <a:solidFill>
                    <a:schemeClr val="lt1"/>
                  </a:solidFill>
                </a:rPr>
                <a:t>5</a:t>
              </a:r>
              <a:endParaRPr b="1" sz="86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69d9e60a4_0_4"/>
          <p:cNvSpPr txBox="1"/>
          <p:nvPr>
            <p:ph idx="1" type="body"/>
          </p:nvPr>
        </p:nvSpPr>
        <p:spPr>
          <a:xfrm>
            <a:off x="654685" y="551041"/>
            <a:ext cx="4916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Descripción técnica de la solución</a:t>
            </a:r>
            <a:endParaRPr/>
          </a:p>
        </p:txBody>
      </p:sp>
      <p:sp>
        <p:nvSpPr>
          <p:cNvPr id="170" name="Google Shape;170;g3969d9e60a4_0_4"/>
          <p:cNvSpPr txBox="1"/>
          <p:nvPr>
            <p:ph idx="2" type="body"/>
          </p:nvPr>
        </p:nvSpPr>
        <p:spPr>
          <a:xfrm>
            <a:off x="796750" y="1581500"/>
            <a:ext cx="7332300" cy="4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s-CL" sz="2050"/>
              <a:t>Arquitectura e infraestructura</a:t>
            </a:r>
            <a:endParaRPr b="1" sz="2050"/>
          </a:p>
          <a:p>
            <a:pPr indent="-34901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CL" sz="2050"/>
              <a:t>Arquitectura:</a:t>
            </a:r>
            <a:r>
              <a:rPr lang="es-CL" sz="2050"/>
              <a:t> Microservicios</a:t>
            </a:r>
            <a:endParaRPr sz="2050"/>
          </a:p>
          <a:p>
            <a:pPr indent="-3490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-CL" sz="2050"/>
              <a:t>Infraestructura:</a:t>
            </a:r>
            <a:r>
              <a:rPr lang="es-CL" sz="2050"/>
              <a:t> Firebase Storage (autenticación y tokens), Oracle DB, Docker</a:t>
            </a:r>
            <a:endParaRPr sz="20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s-CL" sz="2050"/>
              <a:t>Lenguajes y frameworks</a:t>
            </a:r>
            <a:endParaRPr b="1" sz="2050"/>
          </a:p>
          <a:p>
            <a:pPr indent="-34901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-CL" sz="2050"/>
              <a:t>Backend:</a:t>
            </a:r>
            <a:r>
              <a:rPr lang="es-CL" sz="2050"/>
              <a:t> Java + Spring Boot, Python + Pandas, JWT, JPA</a:t>
            </a:r>
            <a:endParaRPr sz="2050"/>
          </a:p>
          <a:p>
            <a:pPr indent="-3490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-CL" sz="2050"/>
              <a:t>Frontend:</a:t>
            </a:r>
            <a:r>
              <a:rPr lang="es-CL" sz="2050"/>
              <a:t> JavaScript + React + Bootstrap, Axios, HTML/CSS</a:t>
            </a:r>
            <a:endParaRPr sz="2050"/>
          </a:p>
          <a:p>
            <a:pPr indent="-3490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-CL" sz="2050"/>
              <a:t>Testing:</a:t>
            </a:r>
            <a:r>
              <a:rPr lang="es-CL" sz="2050"/>
              <a:t> JUnit, Mockito, Vitest</a:t>
            </a:r>
            <a:endParaRPr sz="2050"/>
          </a:p>
          <a:p>
            <a:pPr indent="-3490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-CL" sz="2050"/>
              <a:t>Integraciones:</a:t>
            </a:r>
            <a:r>
              <a:rPr lang="es-CL" sz="2050"/>
              <a:t> WhatsApp Business API, apps de delivery, Openpyxl</a:t>
            </a:r>
            <a:endParaRPr sz="2050"/>
          </a:p>
          <a:p>
            <a:pPr indent="-3490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-CL" sz="2050"/>
              <a:t>Repositorio:</a:t>
            </a:r>
            <a:r>
              <a:rPr lang="es-CL" sz="2050"/>
              <a:t> GitHub</a:t>
            </a:r>
            <a:endParaRPr sz="2050"/>
          </a:p>
          <a:p>
            <a:pPr indent="-139694" lvl="0" marL="228594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3177356f0_0_1"/>
          <p:cNvSpPr txBox="1"/>
          <p:nvPr>
            <p:ph type="title"/>
          </p:nvPr>
        </p:nvSpPr>
        <p:spPr>
          <a:xfrm>
            <a:off x="8458521" y="2752716"/>
            <a:ext cx="28059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Documentación</a:t>
            </a:r>
            <a:endParaRPr i="1"/>
          </a:p>
        </p:txBody>
      </p:sp>
      <p:grpSp>
        <p:nvGrpSpPr>
          <p:cNvPr id="176" name="Google Shape;176;g3d3177356f0_0_1"/>
          <p:cNvGrpSpPr/>
          <p:nvPr/>
        </p:nvGrpSpPr>
        <p:grpSpPr>
          <a:xfrm>
            <a:off x="12750" y="2695950"/>
            <a:ext cx="1460400" cy="1466100"/>
            <a:chOff x="12750" y="2695950"/>
            <a:chExt cx="1460400" cy="1466100"/>
          </a:xfrm>
        </p:grpSpPr>
        <p:sp>
          <p:nvSpPr>
            <p:cNvPr id="177" name="Google Shape;177;g3d3177356f0_0_1"/>
            <p:cNvSpPr/>
            <p:nvPr/>
          </p:nvSpPr>
          <p:spPr>
            <a:xfrm>
              <a:off x="12750" y="2695950"/>
              <a:ext cx="1460400" cy="14661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g3d3177356f0_0_1"/>
            <p:cNvSpPr txBox="1"/>
            <p:nvPr/>
          </p:nvSpPr>
          <p:spPr>
            <a:xfrm>
              <a:off x="81600" y="2772000"/>
              <a:ext cx="1322700" cy="131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8600">
                  <a:solidFill>
                    <a:schemeClr val="lt1"/>
                  </a:solidFill>
                </a:rPr>
                <a:t>6</a:t>
              </a:r>
              <a:endParaRPr b="1" sz="86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3177356f0_0_9"/>
          <p:cNvSpPr txBox="1"/>
          <p:nvPr>
            <p:ph idx="1" type="body"/>
          </p:nvPr>
        </p:nvSpPr>
        <p:spPr>
          <a:xfrm>
            <a:off x="654685" y="551041"/>
            <a:ext cx="4916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Documentación</a:t>
            </a:r>
            <a:endParaRPr/>
          </a:p>
        </p:txBody>
      </p:sp>
      <p:sp>
        <p:nvSpPr>
          <p:cNvPr id="184" name="Google Shape;184;g3d3177356f0_0_9"/>
          <p:cNvSpPr txBox="1"/>
          <p:nvPr>
            <p:ph idx="2" type="body"/>
          </p:nvPr>
        </p:nvSpPr>
        <p:spPr>
          <a:xfrm>
            <a:off x="814450" y="1359726"/>
            <a:ext cx="77235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900"/>
              <a:t>Evidencias del proyecto</a:t>
            </a:r>
            <a:endParaRPr b="1"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s-CL" sz="1900"/>
              <a:t>Documento de registro de definición e identificación del proyecto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L" sz="1900"/>
              <a:t>Modelo entidad-relación (MER) de base de datos Oracle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L" sz="1900"/>
              <a:t>Casos de uso y requerimientos funcionales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-CL" sz="1900"/>
              <a:t>Repositorio GitHub del equipo de desarrollo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900"/>
              <a:t>Herramientas de gestión</a:t>
            </a:r>
            <a:endParaRPr b="1"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s-CL" sz="1900"/>
              <a:t>Planificación:</a:t>
            </a:r>
            <a:r>
              <a:rPr lang="es-CL" sz="1900"/>
              <a:t> ClickUp (carta Gantt) + Google Drive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s-CL" sz="1900"/>
              <a:t>Desarrollo:</a:t>
            </a:r>
            <a:r>
              <a:rPr lang="es-CL" sz="1900"/>
              <a:t> Visual Studio Code + GitHub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s-CL" sz="1900"/>
              <a:t>Diseño:</a:t>
            </a:r>
            <a:r>
              <a:rPr lang="es-CL" sz="1900"/>
              <a:t> Software de diagramas para arquitectura y flujos</a:t>
            </a:r>
            <a:endParaRPr sz="1900"/>
          </a:p>
          <a:p>
            <a:pPr indent="-139694" lvl="0" marL="228594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69d9e60a4_0_10"/>
          <p:cNvSpPr txBox="1"/>
          <p:nvPr>
            <p:ph type="title"/>
          </p:nvPr>
        </p:nvSpPr>
        <p:spPr>
          <a:xfrm>
            <a:off x="8458521" y="2752716"/>
            <a:ext cx="28059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8594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Conclusión y </a:t>
            </a:r>
            <a:r>
              <a:rPr b="0" lang="es-CL" sz="2800"/>
              <a:t>reflexiones</a:t>
            </a:r>
            <a:endParaRPr/>
          </a:p>
        </p:txBody>
      </p:sp>
      <p:grpSp>
        <p:nvGrpSpPr>
          <p:cNvPr id="190" name="Google Shape;190;g3969d9e60a4_0_10"/>
          <p:cNvGrpSpPr/>
          <p:nvPr/>
        </p:nvGrpSpPr>
        <p:grpSpPr>
          <a:xfrm>
            <a:off x="12750" y="2695950"/>
            <a:ext cx="1460400" cy="1466100"/>
            <a:chOff x="12750" y="2695950"/>
            <a:chExt cx="1460400" cy="1466100"/>
          </a:xfrm>
        </p:grpSpPr>
        <p:sp>
          <p:nvSpPr>
            <p:cNvPr id="191" name="Google Shape;191;g3969d9e60a4_0_10"/>
            <p:cNvSpPr/>
            <p:nvPr/>
          </p:nvSpPr>
          <p:spPr>
            <a:xfrm>
              <a:off x="12750" y="2695950"/>
              <a:ext cx="1460400" cy="1466100"/>
            </a:xfrm>
            <a:prstGeom prst="rect">
              <a:avLst/>
            </a:prstGeom>
            <a:solidFill>
              <a:srgbClr val="6D9EE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g3969d9e60a4_0_10"/>
            <p:cNvSpPr txBox="1"/>
            <p:nvPr/>
          </p:nvSpPr>
          <p:spPr>
            <a:xfrm>
              <a:off x="81600" y="2772000"/>
              <a:ext cx="1322700" cy="131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CL" sz="8600">
                  <a:solidFill>
                    <a:schemeClr val="lt1"/>
                  </a:solidFill>
                </a:rPr>
                <a:t>7</a:t>
              </a:r>
              <a:endParaRPr b="1" sz="86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69d9e60a4_0_14"/>
          <p:cNvSpPr txBox="1"/>
          <p:nvPr>
            <p:ph idx="1" type="body"/>
          </p:nvPr>
        </p:nvSpPr>
        <p:spPr>
          <a:xfrm>
            <a:off x="654685" y="551041"/>
            <a:ext cx="4916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CL" sz="2800"/>
              <a:t>Conclusión y </a:t>
            </a:r>
            <a:r>
              <a:rPr b="0" lang="es-CL" sz="2800"/>
              <a:t>reflexiones</a:t>
            </a:r>
            <a:endParaRPr/>
          </a:p>
        </p:txBody>
      </p:sp>
      <p:sp>
        <p:nvSpPr>
          <p:cNvPr id="198" name="Google Shape;198;g3969d9e60a4_0_14"/>
          <p:cNvSpPr txBox="1"/>
          <p:nvPr>
            <p:ph idx="2" type="body"/>
          </p:nvPr>
        </p:nvSpPr>
        <p:spPr>
          <a:xfrm>
            <a:off x="814450" y="1359726"/>
            <a:ext cx="7723500" cy="44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900"/>
              <a:t>Conclusión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900"/>
              <a:t>En resumen, el software a diseñar es la solución completa para una Pyme de comida rápida, la idea es que pueda hacer todo en un solo lugar y deje de depender de canales ajenos que cobran comisión.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900"/>
              <a:t>Reflección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L" sz="1900"/>
              <a:t>Para las etapas que nos quedan adelante vamos a tener que trabajar junto con la empresa para que la solución calce como un guante, cosa que efectivamente resuelva sus problemas y signifique una mejora y una ventaja para la empresa.</a:t>
            </a:r>
            <a:endParaRPr sz="1900"/>
          </a:p>
          <a:p>
            <a:pPr indent="-139694" lvl="0" marL="228594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2024-03-07T18:55:37Z</dcterms:created>
  <dc:creator>Daniela Osorio C.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